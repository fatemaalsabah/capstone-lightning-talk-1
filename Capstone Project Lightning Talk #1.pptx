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74" r:id="rId4"/>
    <p:sldId id="278" r:id="rId5"/>
    <p:sldId id="281" r:id="rId6"/>
    <p:sldId id="280" r:id="rId7"/>
    <p:sldId id="279" r:id="rId8"/>
    <p:sldId id="282" r:id="rId9"/>
    <p:sldId id="270" r:id="rId10"/>
  </p:sldIdLst>
  <p:sldSz cx="18288000" cy="10287000"/>
  <p:notesSz cx="6858000" cy="9144000"/>
  <p:embeddedFontLst>
    <p:embeddedFont>
      <p:font typeface="League Spartan" panose="020B0604020202020204" charset="0"/>
      <p:regular r:id="rId11"/>
    </p:embeddedFont>
    <p:embeddedFont>
      <p:font typeface="Poppins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FFFFF"/>
    <a:srgbClr val="327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900" y="-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62400" y="1853332"/>
            <a:ext cx="9846085" cy="4408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Capstone Project Proposals: Lightning Talk #1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029200" y="6896100"/>
            <a:ext cx="8526827" cy="796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Fatema </a:t>
            </a:r>
            <a:r>
              <a:rPr lang="en-US" sz="28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Alsabah</a:t>
            </a:r>
            <a:endParaRPr lang="en-US" sz="2800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Data Science bootcamp – General Assembly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BBE6E-6633-E130-E751-574D0A71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7B6C9D-73B5-1DAC-1B4D-4D855FFA743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40E3337-AF88-B827-12FA-2AA679EE1A29}"/>
              </a:ext>
            </a:extLst>
          </p:cNvPr>
          <p:cNvGrpSpPr/>
          <p:nvPr/>
        </p:nvGrpSpPr>
        <p:grpSpPr>
          <a:xfrm>
            <a:off x="-257175" y="4502250"/>
            <a:ext cx="18802350" cy="2006600"/>
            <a:chOff x="0" y="0"/>
            <a:chExt cx="4952059" cy="52848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965331-F7F8-EC7E-38CD-2CC05689E403}"/>
                </a:ext>
              </a:extLst>
            </p:cNvPr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09CDD32-94D3-57B0-D134-4A4931838DA0}"/>
                </a:ext>
              </a:extLst>
            </p:cNvPr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CFA0B384-A5CC-5F2E-4EFE-26497C085318}"/>
              </a:ext>
            </a:extLst>
          </p:cNvPr>
          <p:cNvSpPr txBox="1"/>
          <p:nvPr/>
        </p:nvSpPr>
        <p:spPr>
          <a:xfrm>
            <a:off x="685800" y="1247314"/>
            <a:ext cx="16992600" cy="1991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Goal: Evaluate 3 candidate datasets to select an impactful Capstone project.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702F399-2DA4-69AD-C7C3-904C420C3822}"/>
              </a:ext>
            </a:extLst>
          </p:cNvPr>
          <p:cNvSpPr txBox="1"/>
          <p:nvPr/>
        </p:nvSpPr>
        <p:spPr>
          <a:xfrm>
            <a:off x="2269039" y="5029897"/>
            <a:ext cx="326388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EADE61C-1C57-90C5-A8C1-3986E576FB14}"/>
              </a:ext>
            </a:extLst>
          </p:cNvPr>
          <p:cNvSpPr txBox="1"/>
          <p:nvPr/>
        </p:nvSpPr>
        <p:spPr>
          <a:xfrm>
            <a:off x="7509989" y="5029897"/>
            <a:ext cx="326388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B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75B254-0E5C-6124-1215-9A6AAFA3CF06}"/>
              </a:ext>
            </a:extLst>
          </p:cNvPr>
          <p:cNvSpPr txBox="1"/>
          <p:nvPr/>
        </p:nvSpPr>
        <p:spPr>
          <a:xfrm>
            <a:off x="12755075" y="5029897"/>
            <a:ext cx="3263886" cy="97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Topic C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DCE5AE-5327-064F-461E-6480C993966F}"/>
              </a:ext>
            </a:extLst>
          </p:cNvPr>
          <p:cNvSpPr txBox="1"/>
          <p:nvPr/>
        </p:nvSpPr>
        <p:spPr>
          <a:xfrm>
            <a:off x="1777178" y="7356575"/>
            <a:ext cx="4247608" cy="159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Factors Affecting Children Anemia Level (Classification / Public Health)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6044C7E-9736-57E1-804C-3F8FCB65F1B1}"/>
              </a:ext>
            </a:extLst>
          </p:cNvPr>
          <p:cNvSpPr txBox="1"/>
          <p:nvPr/>
        </p:nvSpPr>
        <p:spPr>
          <a:xfrm>
            <a:off x="7018128" y="7356575"/>
            <a:ext cx="4247608" cy="1193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FoodMart</a:t>
            </a: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Media Cost Prediction (Regression / Retail)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8D071CC-09C6-5EB0-C52B-E0D7ADC24307}"/>
              </a:ext>
            </a:extLst>
          </p:cNvPr>
          <p:cNvSpPr txBox="1"/>
          <p:nvPr/>
        </p:nvSpPr>
        <p:spPr>
          <a:xfrm>
            <a:off x="12263214" y="7356575"/>
            <a:ext cx="4247608" cy="159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80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Stellar Classification SDSS DR17 (Classification / Astronomy)</a:t>
            </a:r>
          </a:p>
        </p:txBody>
      </p:sp>
    </p:spTree>
    <p:extLst>
      <p:ext uri="{BB962C8B-B14F-4D97-AF65-F5344CB8AC3E}">
        <p14:creationId xmlns:p14="http://schemas.microsoft.com/office/powerpoint/2010/main" val="206513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8C70B-77B7-561E-3B04-023B5826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5B244E-F5F2-C67B-8F8A-B6CB227EB4C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6EE7DED-07B9-DD7D-3B86-D44911505F20}"/>
              </a:ext>
            </a:extLst>
          </p:cNvPr>
          <p:cNvGrpSpPr/>
          <p:nvPr/>
        </p:nvGrpSpPr>
        <p:grpSpPr>
          <a:xfrm>
            <a:off x="8413750" y="1110371"/>
            <a:ext cx="3340100" cy="3784600"/>
            <a:chOff x="0" y="0"/>
            <a:chExt cx="879697" cy="9967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F0162A8-313D-409C-BECF-3A925E047CC2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DECD8B-DC95-6879-14E3-7565BAE12500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D6A0DAF-CCA0-5C16-2C2A-1B8263E2AD4B}"/>
              </a:ext>
            </a:extLst>
          </p:cNvPr>
          <p:cNvSpPr txBox="1"/>
          <p:nvPr/>
        </p:nvSpPr>
        <p:spPr>
          <a:xfrm>
            <a:off x="1028700" y="929545"/>
            <a:ext cx="6715408" cy="1829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400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Factors Affecting Children Anemia Level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1BF5959-14DB-C838-C329-6A601A45393C}"/>
              </a:ext>
            </a:extLst>
          </p:cNvPr>
          <p:cNvGrpSpPr/>
          <p:nvPr/>
        </p:nvGrpSpPr>
        <p:grpSpPr>
          <a:xfrm>
            <a:off x="8413750" y="5473700"/>
            <a:ext cx="3340100" cy="3784600"/>
            <a:chOff x="0" y="0"/>
            <a:chExt cx="879697" cy="9967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063A57E-79A9-65FB-0677-43332DE819C6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200EFB4-D6BA-CCC5-5C6C-915AC2AE2017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E5231B05-D35C-ACF0-CF0F-588C5055EA79}"/>
              </a:ext>
            </a:extLst>
          </p:cNvPr>
          <p:cNvSpPr txBox="1"/>
          <p:nvPr/>
        </p:nvSpPr>
        <p:spPr>
          <a:xfrm>
            <a:off x="7955749" y="2139821"/>
            <a:ext cx="4251920" cy="15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705E413-10FC-9200-EDEA-F3A85A1E4861}"/>
              </a:ext>
            </a:extLst>
          </p:cNvPr>
          <p:cNvSpPr txBox="1"/>
          <p:nvPr/>
        </p:nvSpPr>
        <p:spPr>
          <a:xfrm>
            <a:off x="8406001" y="6610221"/>
            <a:ext cx="3340100" cy="1507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 and aims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D84DBFC-C8A5-9844-DB89-1CB34564931F}"/>
              </a:ext>
            </a:extLst>
          </p:cNvPr>
          <p:cNvSpPr txBox="1"/>
          <p:nvPr/>
        </p:nvSpPr>
        <p:spPr>
          <a:xfrm>
            <a:off x="12419310" y="1666087"/>
            <a:ext cx="4650324" cy="267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Childhood anemia is a major public health challenge driven by a complex mix of factors. Identifying key risk drivers is essential for public health organizations to deploy targeted interventions effectively.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B93E48D-3A1E-87DA-24CF-EE2808029430}"/>
              </a:ext>
            </a:extLst>
          </p:cNvPr>
          <p:cNvSpPr txBox="1"/>
          <p:nvPr/>
        </p:nvSpPr>
        <p:spPr>
          <a:xfrm>
            <a:off x="12419310" y="6323724"/>
            <a:ext cx="4650324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a classification model to predict child anemia severity levels and help health organizations optimize resource allocation.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55271-1BDC-B7B5-53C3-9944412E7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4" r="7199"/>
          <a:stretch>
            <a:fillRect/>
          </a:stretch>
        </p:blipFill>
        <p:spPr>
          <a:xfrm>
            <a:off x="990600" y="3848100"/>
            <a:ext cx="647323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8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BDB6-63BE-2FD5-1AC9-824663B3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379455-9AC1-6E2B-38A2-9BDE31B8800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3C3578-18CA-6D09-527C-2CCE16D8F031}"/>
              </a:ext>
            </a:extLst>
          </p:cNvPr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D288DC-B863-E10E-D985-7ADB4556BABF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9E88AB-B483-3F76-D747-3B7181C63F44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07F68F44-7C76-1DA3-D61E-B9FB0F74BFF5}"/>
              </a:ext>
            </a:extLst>
          </p:cNvPr>
          <p:cNvSpPr txBox="1"/>
          <p:nvPr/>
        </p:nvSpPr>
        <p:spPr>
          <a:xfrm>
            <a:off x="1028700" y="929545"/>
            <a:ext cx="5105400" cy="1864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800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 about the data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A8208B-55C1-4638-B39C-40A54C696A16}"/>
              </a:ext>
            </a:extLst>
          </p:cNvPr>
          <p:cNvGrpSpPr/>
          <p:nvPr/>
        </p:nvGrpSpPr>
        <p:grpSpPr>
          <a:xfrm>
            <a:off x="8862583" y="1606753"/>
            <a:ext cx="7719301" cy="7073495"/>
            <a:chOff x="8862583" y="1606753"/>
            <a:chExt cx="7719301" cy="7073495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7536394-8C6F-3ED6-834E-9573B88D5344}"/>
                </a:ext>
              </a:extLst>
            </p:cNvPr>
            <p:cNvGrpSpPr/>
            <p:nvPr/>
          </p:nvGrpSpPr>
          <p:grpSpPr>
            <a:xfrm>
              <a:off x="10287000" y="6856396"/>
              <a:ext cx="6294884" cy="1769743"/>
              <a:chOff x="0" y="0"/>
              <a:chExt cx="1657912" cy="2284537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D31C627-5DA5-772B-478E-395E66A2E416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C114A4D-0AD2-778A-18B9-F337DBD7272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E9E5A11-16A4-CC55-0501-B68EFBB55E7B}"/>
                </a:ext>
              </a:extLst>
            </p:cNvPr>
            <p:cNvGrpSpPr/>
            <p:nvPr/>
          </p:nvGrpSpPr>
          <p:grpSpPr>
            <a:xfrm>
              <a:off x="8862583" y="6811982"/>
              <a:ext cx="1868266" cy="1868266"/>
              <a:chOff x="8862583" y="6811982"/>
              <a:chExt cx="1868266" cy="1868266"/>
            </a:xfrm>
          </p:grpSpPr>
          <p:grpSp>
            <p:nvGrpSpPr>
              <p:cNvPr id="19" name="Group 19">
                <a:extLst>
                  <a:ext uri="{FF2B5EF4-FFF2-40B4-BE49-F238E27FC236}">
                    <a16:creationId xmlns:a16="http://schemas.microsoft.com/office/drawing/2014/main" id="{A81C9722-E094-7ED4-832C-CDA95DE17597}"/>
                  </a:ext>
                </a:extLst>
              </p:cNvPr>
              <p:cNvGrpSpPr/>
              <p:nvPr/>
            </p:nvGrpSpPr>
            <p:grpSpPr>
              <a:xfrm>
                <a:off x="8862583" y="6811982"/>
                <a:ext cx="1868266" cy="1868266"/>
                <a:chOff x="0" y="0"/>
                <a:chExt cx="812800" cy="812800"/>
              </a:xfrm>
            </p:grpSpPr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BC2A5B98-A391-CA68-EAC8-62B54A1BDF7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TextBox 21">
                  <a:extLst>
                    <a:ext uri="{FF2B5EF4-FFF2-40B4-BE49-F238E27FC236}">
                      <a16:creationId xmlns:a16="http://schemas.microsoft.com/office/drawing/2014/main" id="{53B50055-EA23-EBEE-85AC-2078AFC6FE44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D056E363-54F0-D3C8-3D3F-1D4F4B0F2F38}"/>
                  </a:ext>
                </a:extLst>
              </p:cNvPr>
              <p:cNvSpPr txBox="1"/>
              <p:nvPr/>
            </p:nvSpPr>
            <p:spPr>
              <a:xfrm>
                <a:off x="8977298" y="709773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3</a:t>
                </a:r>
              </a:p>
            </p:txBody>
          </p:sp>
        </p:grp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8993F92-EC01-8FE0-F95E-D5AE4E8BB578}"/>
                </a:ext>
              </a:extLst>
            </p:cNvPr>
            <p:cNvSpPr txBox="1"/>
            <p:nvPr/>
          </p:nvSpPr>
          <p:spPr>
            <a:xfrm>
              <a:off x="11091439" y="7064756"/>
              <a:ext cx="4856091" cy="131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Many columns have outliers such as: Age at 1st birth, Births in last five years, Hemoglobin level adjusted for altitude and smoking</a:t>
              </a:r>
            </a:p>
          </p:txBody>
        </p: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7D88432D-2DE5-59B3-CBC8-961D17FFAD2E}"/>
                </a:ext>
              </a:extLst>
            </p:cNvPr>
            <p:cNvGrpSpPr/>
            <p:nvPr/>
          </p:nvGrpSpPr>
          <p:grpSpPr>
            <a:xfrm>
              <a:off x="10284417" y="4258628"/>
              <a:ext cx="6294884" cy="1769743"/>
              <a:chOff x="0" y="0"/>
              <a:chExt cx="1657912" cy="2284537"/>
            </a:xfrm>
          </p:grpSpPr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D65FA165-208D-E2B9-28C4-4C4DD0EAA8A5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8">
                <a:extLst>
                  <a:ext uri="{FF2B5EF4-FFF2-40B4-BE49-F238E27FC236}">
                    <a16:creationId xmlns:a16="http://schemas.microsoft.com/office/drawing/2014/main" id="{C8DF9B7D-F605-2D27-9D80-94CCFCB8F6B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65B60E4D-BDD8-71C9-D922-62D1A2C2F97D}"/>
                </a:ext>
              </a:extLst>
            </p:cNvPr>
            <p:cNvGrpSpPr/>
            <p:nvPr/>
          </p:nvGrpSpPr>
          <p:grpSpPr>
            <a:xfrm>
              <a:off x="10284417" y="1683623"/>
              <a:ext cx="6294884" cy="1769743"/>
              <a:chOff x="0" y="0"/>
              <a:chExt cx="1657912" cy="2284537"/>
            </a:xfrm>
          </p:grpSpPr>
          <p:sp>
            <p:nvSpPr>
              <p:cNvPr id="39" name="Freeform 7">
                <a:extLst>
                  <a:ext uri="{FF2B5EF4-FFF2-40B4-BE49-F238E27FC236}">
                    <a16:creationId xmlns:a16="http://schemas.microsoft.com/office/drawing/2014/main" id="{B1A8FABF-8DAF-D0AC-CDEC-5929ED1E4715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8">
                <a:extLst>
                  <a:ext uri="{FF2B5EF4-FFF2-40B4-BE49-F238E27FC236}">
                    <a16:creationId xmlns:a16="http://schemas.microsoft.com/office/drawing/2014/main" id="{F80B1591-2A7B-B430-05B1-0C1F7A1C9B8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173E780-0CB8-238E-7129-7DA2EB2E6C69}"/>
                </a:ext>
              </a:extLst>
            </p:cNvPr>
            <p:cNvGrpSpPr/>
            <p:nvPr/>
          </p:nvGrpSpPr>
          <p:grpSpPr>
            <a:xfrm>
              <a:off x="8862583" y="1606753"/>
              <a:ext cx="1868266" cy="1868266"/>
              <a:chOff x="8862583" y="1606753"/>
              <a:chExt cx="1868266" cy="1868266"/>
            </a:xfrm>
          </p:grpSpPr>
          <p:grpSp>
            <p:nvGrpSpPr>
              <p:cNvPr id="13" name="Group 13">
                <a:extLst>
                  <a:ext uri="{FF2B5EF4-FFF2-40B4-BE49-F238E27FC236}">
                    <a16:creationId xmlns:a16="http://schemas.microsoft.com/office/drawing/2014/main" id="{9D900517-237B-4177-5C5F-890AF9CDC6E6}"/>
                  </a:ext>
                </a:extLst>
              </p:cNvPr>
              <p:cNvGrpSpPr/>
              <p:nvPr/>
            </p:nvGrpSpPr>
            <p:grpSpPr>
              <a:xfrm>
                <a:off x="8862583" y="1606753"/>
                <a:ext cx="1868266" cy="1868266"/>
                <a:chOff x="0" y="0"/>
                <a:chExt cx="812800" cy="812800"/>
              </a:xfrm>
            </p:grpSpPr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63E2189E-CFF6-171F-C5F8-74BD314B0EE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TextBox 15">
                  <a:extLst>
                    <a:ext uri="{FF2B5EF4-FFF2-40B4-BE49-F238E27FC236}">
                      <a16:creationId xmlns:a16="http://schemas.microsoft.com/office/drawing/2014/main" id="{64152421-79E4-4800-6B2C-846AF84B6832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37A38D4C-8C66-99BA-7F2D-7B0DCEAF498E}"/>
                  </a:ext>
                </a:extLst>
              </p:cNvPr>
              <p:cNvSpPr txBox="1"/>
              <p:nvPr/>
            </p:nvSpPr>
            <p:spPr>
              <a:xfrm>
                <a:off x="8977298" y="190147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1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36030C8-59E7-D350-A18E-F355A6D67BC3}"/>
                </a:ext>
              </a:extLst>
            </p:cNvPr>
            <p:cNvGrpSpPr/>
            <p:nvPr/>
          </p:nvGrpSpPr>
          <p:grpSpPr>
            <a:xfrm>
              <a:off x="8862583" y="4210291"/>
              <a:ext cx="1868266" cy="1868266"/>
              <a:chOff x="8862583" y="4210291"/>
              <a:chExt cx="1868266" cy="1868266"/>
            </a:xfrm>
          </p:grpSpPr>
          <p:grpSp>
            <p:nvGrpSpPr>
              <p:cNvPr id="16" name="Group 16">
                <a:extLst>
                  <a:ext uri="{FF2B5EF4-FFF2-40B4-BE49-F238E27FC236}">
                    <a16:creationId xmlns:a16="http://schemas.microsoft.com/office/drawing/2014/main" id="{3C047551-BC75-5B7D-6C2D-D39A9EF9B4B4}"/>
                  </a:ext>
                </a:extLst>
              </p:cNvPr>
              <p:cNvGrpSpPr/>
              <p:nvPr/>
            </p:nvGrpSpPr>
            <p:grpSpPr>
              <a:xfrm>
                <a:off x="8862583" y="4210291"/>
                <a:ext cx="1868266" cy="1868266"/>
                <a:chOff x="0" y="0"/>
                <a:chExt cx="812800" cy="812800"/>
              </a:xfrm>
            </p:grpSpPr>
            <p:sp>
              <p:nvSpPr>
                <p:cNvPr id="18" name="TextBox 18">
                  <a:extLst>
                    <a:ext uri="{FF2B5EF4-FFF2-40B4-BE49-F238E27FC236}">
                      <a16:creationId xmlns:a16="http://schemas.microsoft.com/office/drawing/2014/main" id="{6FD6E6EC-AB3E-083A-BEC8-D9121F8CB633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901B265C-7C89-E932-6099-FFD4B9819FD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E2DFF36D-EF3A-E9CA-8462-8E263009BE8D}"/>
                  </a:ext>
                </a:extLst>
              </p:cNvPr>
              <p:cNvSpPr txBox="1"/>
              <p:nvPr/>
            </p:nvSpPr>
            <p:spPr>
              <a:xfrm>
                <a:off x="8977298" y="4495485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b="1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2</a:t>
                </a:r>
              </a:p>
            </p:txBody>
          </p:sp>
        </p:grp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EAAC84DA-4402-316B-8C1B-12E3E1C2E6D9}"/>
                </a:ext>
              </a:extLst>
            </p:cNvPr>
            <p:cNvSpPr txBox="1"/>
            <p:nvPr/>
          </p:nvSpPr>
          <p:spPr>
            <a:xfrm>
              <a:off x="11091439" y="2161511"/>
              <a:ext cx="4856091" cy="315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endPara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F41D1CE-5C3D-3DD4-8208-4A13C4718A67}"/>
                </a:ext>
              </a:extLst>
            </p:cNvPr>
            <p:cNvSpPr txBox="1"/>
            <p:nvPr/>
          </p:nvSpPr>
          <p:spPr>
            <a:xfrm>
              <a:off x="11091439" y="4834002"/>
              <a:ext cx="4856091" cy="649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numerical columns =  22</a:t>
              </a:r>
            </a:p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categorical columns =  17  </a:t>
              </a: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16ACE764-3C0C-2623-8FD8-438C81E5B2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5" y="3695700"/>
            <a:ext cx="6470917" cy="4334265"/>
          </a:xfrm>
          <a:prstGeom prst="rect">
            <a:avLst/>
          </a:prstGeom>
        </p:spPr>
      </p:pic>
      <p:sp>
        <p:nvSpPr>
          <p:cNvPr id="51" name="TextBox 25">
            <a:extLst>
              <a:ext uri="{FF2B5EF4-FFF2-40B4-BE49-F238E27FC236}">
                <a16:creationId xmlns:a16="http://schemas.microsoft.com/office/drawing/2014/main" id="{C52B2BFB-7B0F-FABE-466E-680A65D3A5B5}"/>
              </a:ext>
            </a:extLst>
          </p:cNvPr>
          <p:cNvSpPr txBox="1"/>
          <p:nvPr/>
        </p:nvSpPr>
        <p:spPr>
          <a:xfrm>
            <a:off x="2111614" y="46863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30.25%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F24E478C-60F6-B86F-A29C-3BA109E11AD5}"/>
              </a:ext>
            </a:extLst>
          </p:cNvPr>
          <p:cNvSpPr txBox="1"/>
          <p:nvPr/>
        </p:nvSpPr>
        <p:spPr>
          <a:xfrm>
            <a:off x="3505200" y="49149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27.36%</a:t>
            </a:r>
          </a:p>
        </p:txBody>
      </p:sp>
      <p:sp>
        <p:nvSpPr>
          <p:cNvPr id="57" name="TextBox 25">
            <a:extLst>
              <a:ext uri="{FF2B5EF4-FFF2-40B4-BE49-F238E27FC236}">
                <a16:creationId xmlns:a16="http://schemas.microsoft.com/office/drawing/2014/main" id="{0209F241-14A8-965B-3D95-407D65C85268}"/>
              </a:ext>
            </a:extLst>
          </p:cNvPr>
          <p:cNvSpPr txBox="1"/>
          <p:nvPr/>
        </p:nvSpPr>
        <p:spPr>
          <a:xfrm>
            <a:off x="6378814" y="7042317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1.76%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24986E-14D7-7C48-8FD4-79B85C6CA5E3}"/>
              </a:ext>
            </a:extLst>
          </p:cNvPr>
          <p:cNvSpPr/>
          <p:nvPr/>
        </p:nvSpPr>
        <p:spPr>
          <a:xfrm>
            <a:off x="1676400" y="3954781"/>
            <a:ext cx="5733162" cy="4571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544C21F5-7C9E-B9BB-E8C2-028A84FCE755}"/>
              </a:ext>
            </a:extLst>
          </p:cNvPr>
          <p:cNvSpPr txBox="1"/>
          <p:nvPr/>
        </p:nvSpPr>
        <p:spPr>
          <a:xfrm>
            <a:off x="4931014" y="38481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40.63%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E67C8B5-501C-5FAA-820C-DA532C7A4CD7}"/>
              </a:ext>
            </a:extLst>
          </p:cNvPr>
          <p:cNvSpPr/>
          <p:nvPr/>
        </p:nvSpPr>
        <p:spPr>
          <a:xfrm rot="5400000" flipV="1">
            <a:off x="5532118" y="5859782"/>
            <a:ext cx="3764284" cy="4571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25">
            <a:extLst>
              <a:ext uri="{FF2B5EF4-FFF2-40B4-BE49-F238E27FC236}">
                <a16:creationId xmlns:a16="http://schemas.microsoft.com/office/drawing/2014/main" id="{08A3688D-8C8F-76BE-E0C0-F90D07776446}"/>
              </a:ext>
            </a:extLst>
          </p:cNvPr>
          <p:cNvSpPr txBox="1"/>
          <p:nvPr/>
        </p:nvSpPr>
        <p:spPr>
          <a:xfrm>
            <a:off x="11091439" y="1888867"/>
            <a:ext cx="4856091" cy="131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are missing values in 8 columns, the most notable are Anemia level, and Hemoglobin level adjusted for altitude. Both have many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417308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9D7A-EE3C-CA76-435A-C654672D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568480-4815-65CE-723F-C0C85B20518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6F3268C-E979-463D-52B3-88191E95A508}"/>
              </a:ext>
            </a:extLst>
          </p:cNvPr>
          <p:cNvGrpSpPr/>
          <p:nvPr/>
        </p:nvGrpSpPr>
        <p:grpSpPr>
          <a:xfrm>
            <a:off x="8413750" y="1110371"/>
            <a:ext cx="3340100" cy="3784600"/>
            <a:chOff x="0" y="0"/>
            <a:chExt cx="879697" cy="9967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6B79756-DE83-96ED-55BB-B4F54FC9170D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BB5844B-D829-C33B-9DC1-8FB18D5C59C3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74766C1-1838-88E4-C2EA-E7A6C14C924A}"/>
              </a:ext>
            </a:extLst>
          </p:cNvPr>
          <p:cNvSpPr txBox="1"/>
          <p:nvPr/>
        </p:nvSpPr>
        <p:spPr>
          <a:xfrm>
            <a:off x="1028700" y="929545"/>
            <a:ext cx="5898349" cy="186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400" b="1" dirty="0" err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FoodMart</a:t>
            </a:r>
            <a:r>
              <a:rPr lang="en-US" sz="4400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Media Cost Prediction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AD358D2-CC71-2B9B-3E07-4DC578FC6D73}"/>
              </a:ext>
            </a:extLst>
          </p:cNvPr>
          <p:cNvGrpSpPr/>
          <p:nvPr/>
        </p:nvGrpSpPr>
        <p:grpSpPr>
          <a:xfrm>
            <a:off x="8413750" y="5473700"/>
            <a:ext cx="3340100" cy="3784600"/>
            <a:chOff x="0" y="0"/>
            <a:chExt cx="879697" cy="9967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5DF6E00-3D17-CD6C-84FE-E8797346CD2A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0F7E555-B099-1BE9-2F68-56EA4EFEDFCC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41FF0414-2E77-52B3-C59E-F3FC041AD0A8}"/>
              </a:ext>
            </a:extLst>
          </p:cNvPr>
          <p:cNvSpPr txBox="1"/>
          <p:nvPr/>
        </p:nvSpPr>
        <p:spPr>
          <a:xfrm>
            <a:off x="7955749" y="2139821"/>
            <a:ext cx="4251920" cy="15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E334729-6F91-6F23-8734-6C367C8BC33E}"/>
              </a:ext>
            </a:extLst>
          </p:cNvPr>
          <p:cNvSpPr txBox="1"/>
          <p:nvPr/>
        </p:nvSpPr>
        <p:spPr>
          <a:xfrm>
            <a:off x="8406001" y="6610221"/>
            <a:ext cx="3340100" cy="1507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 and aims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D222CA-8A94-7C2A-BDA0-8D3049533D07}"/>
              </a:ext>
            </a:extLst>
          </p:cNvPr>
          <p:cNvSpPr txBox="1"/>
          <p:nvPr/>
        </p:nvSpPr>
        <p:spPr>
          <a:xfrm>
            <a:off x="12419310" y="1862012"/>
            <a:ext cx="4650324" cy="228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Retail chains lose substantial capital on inefficient promotional campaigns because marketing cost varies drastically across store layouts, media types, and customer demographics.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D3DFDD2-4E08-3311-9A99-5A460A83309E}"/>
              </a:ext>
            </a:extLst>
          </p:cNvPr>
          <p:cNvSpPr txBox="1"/>
          <p:nvPr/>
        </p:nvSpPr>
        <p:spPr>
          <a:xfrm>
            <a:off x="12419310" y="6414137"/>
            <a:ext cx="4650324" cy="190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a regression model to accurately predict promotional media costs (Cost), allowing marketing managers to optimize advertising budget allocation.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F8B7B28-A20A-F68E-4FCE-1C01D5FA0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5" r="6507"/>
          <a:stretch>
            <a:fillRect/>
          </a:stretch>
        </p:blipFill>
        <p:spPr>
          <a:xfrm>
            <a:off x="1028701" y="3848100"/>
            <a:ext cx="647323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1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C240-FD08-DD47-7781-7A96089B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C48804-5595-4216-C51F-F5C9694435F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DD01D5A-FF02-ADF9-E77D-976042C6501B}"/>
              </a:ext>
            </a:extLst>
          </p:cNvPr>
          <p:cNvGrpSpPr/>
          <p:nvPr/>
        </p:nvGrpSpPr>
        <p:grpSpPr>
          <a:xfrm>
            <a:off x="147066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32CC7D-B2C7-E101-FC88-49A0A4A9C533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E6CC171-78E1-0A6B-68DD-7BA2AB4781FB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7F359AF-64DA-93FB-7F3E-C612507DEB59}"/>
              </a:ext>
            </a:extLst>
          </p:cNvPr>
          <p:cNvGrpSpPr/>
          <p:nvPr/>
        </p:nvGrpSpPr>
        <p:grpSpPr>
          <a:xfrm>
            <a:off x="10287000" y="952500"/>
            <a:ext cx="6446533" cy="6381630"/>
            <a:chOff x="1003692" y="929545"/>
            <a:chExt cx="6446533" cy="6381630"/>
          </a:xfrm>
        </p:grpSpPr>
        <p:sp>
          <p:nvSpPr>
            <p:cNvPr id="55" name="TextBox 9">
              <a:extLst>
                <a:ext uri="{FF2B5EF4-FFF2-40B4-BE49-F238E27FC236}">
                  <a16:creationId xmlns:a16="http://schemas.microsoft.com/office/drawing/2014/main" id="{FF198FDE-03F5-DFAA-BC30-AA112E4B4831}"/>
                </a:ext>
              </a:extLst>
            </p:cNvPr>
            <p:cNvSpPr txBox="1"/>
            <p:nvPr/>
          </p:nvSpPr>
          <p:spPr>
            <a:xfrm>
              <a:off x="1028700" y="929545"/>
              <a:ext cx="5105400" cy="1864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431"/>
                </a:lnSpc>
              </a:pPr>
              <a:r>
                <a:rPr lang="en-US" sz="4800" b="1" dirty="0">
                  <a:solidFill>
                    <a:srgbClr val="004AAD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Insights about the data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CBDD664-79FE-8662-21A5-3148AFBF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692" y="3726720"/>
              <a:ext cx="6446533" cy="3584455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E9FDA6-EF33-D1EB-7C50-33189EEF43B3}"/>
              </a:ext>
            </a:extLst>
          </p:cNvPr>
          <p:cNvGrpSpPr/>
          <p:nvPr/>
        </p:nvGrpSpPr>
        <p:grpSpPr>
          <a:xfrm>
            <a:off x="1143000" y="1638300"/>
            <a:ext cx="7719301" cy="7073495"/>
            <a:chOff x="8862583" y="1606753"/>
            <a:chExt cx="7719301" cy="7073495"/>
          </a:xfrm>
        </p:grpSpPr>
        <p:grpSp>
          <p:nvGrpSpPr>
            <p:cNvPr id="58" name="Group 6">
              <a:extLst>
                <a:ext uri="{FF2B5EF4-FFF2-40B4-BE49-F238E27FC236}">
                  <a16:creationId xmlns:a16="http://schemas.microsoft.com/office/drawing/2014/main" id="{E8C907CB-3675-0FA8-8150-E6F8F055743F}"/>
                </a:ext>
              </a:extLst>
            </p:cNvPr>
            <p:cNvGrpSpPr/>
            <p:nvPr/>
          </p:nvGrpSpPr>
          <p:grpSpPr>
            <a:xfrm>
              <a:off x="10287000" y="6856396"/>
              <a:ext cx="6294884" cy="1769743"/>
              <a:chOff x="0" y="0"/>
              <a:chExt cx="1657912" cy="2284537"/>
            </a:xfrm>
          </p:grpSpPr>
          <p:sp>
            <p:nvSpPr>
              <p:cNvPr id="83" name="Freeform 7">
                <a:extLst>
                  <a:ext uri="{FF2B5EF4-FFF2-40B4-BE49-F238E27FC236}">
                    <a16:creationId xmlns:a16="http://schemas.microsoft.com/office/drawing/2014/main" id="{0A608B94-4B8B-3721-D096-4D49B4C6A489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TextBox 8">
                <a:extLst>
                  <a:ext uri="{FF2B5EF4-FFF2-40B4-BE49-F238E27FC236}">
                    <a16:creationId xmlns:a16="http://schemas.microsoft.com/office/drawing/2014/main" id="{0B3B82E7-5C16-B293-C5DB-123ABA94A7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7499706-53D5-0574-C68B-1B199C938B10}"/>
                </a:ext>
              </a:extLst>
            </p:cNvPr>
            <p:cNvGrpSpPr/>
            <p:nvPr/>
          </p:nvGrpSpPr>
          <p:grpSpPr>
            <a:xfrm>
              <a:off x="8862583" y="6811982"/>
              <a:ext cx="1868266" cy="1868266"/>
              <a:chOff x="8862583" y="6811982"/>
              <a:chExt cx="1868266" cy="1868266"/>
            </a:xfrm>
          </p:grpSpPr>
          <p:grpSp>
            <p:nvGrpSpPr>
              <p:cNvPr id="79" name="Group 19">
                <a:extLst>
                  <a:ext uri="{FF2B5EF4-FFF2-40B4-BE49-F238E27FC236}">
                    <a16:creationId xmlns:a16="http://schemas.microsoft.com/office/drawing/2014/main" id="{8DE7793A-D7B6-FA52-0754-3167995F909D}"/>
                  </a:ext>
                </a:extLst>
              </p:cNvPr>
              <p:cNvGrpSpPr/>
              <p:nvPr/>
            </p:nvGrpSpPr>
            <p:grpSpPr>
              <a:xfrm>
                <a:off x="8862583" y="6811982"/>
                <a:ext cx="1868266" cy="1868266"/>
                <a:chOff x="0" y="0"/>
                <a:chExt cx="812800" cy="812800"/>
              </a:xfrm>
            </p:grpSpPr>
            <p:sp>
              <p:nvSpPr>
                <p:cNvPr id="81" name="Freeform 20">
                  <a:extLst>
                    <a:ext uri="{FF2B5EF4-FFF2-40B4-BE49-F238E27FC236}">
                      <a16:creationId xmlns:a16="http://schemas.microsoft.com/office/drawing/2014/main" id="{CC39215D-D837-1B6E-7992-FB3D0128067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TextBox 21">
                  <a:extLst>
                    <a:ext uri="{FF2B5EF4-FFF2-40B4-BE49-F238E27FC236}">
                      <a16:creationId xmlns:a16="http://schemas.microsoft.com/office/drawing/2014/main" id="{2FD378FC-366F-9226-69E9-34CDA04EFE28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80" name="TextBox 24">
                <a:extLst>
                  <a:ext uri="{FF2B5EF4-FFF2-40B4-BE49-F238E27FC236}">
                    <a16:creationId xmlns:a16="http://schemas.microsoft.com/office/drawing/2014/main" id="{17CF7C36-FFF4-122E-29EC-3EB416184C53}"/>
                  </a:ext>
                </a:extLst>
              </p:cNvPr>
              <p:cNvSpPr txBox="1"/>
              <p:nvPr/>
            </p:nvSpPr>
            <p:spPr>
              <a:xfrm>
                <a:off x="8977298" y="709773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3</a:t>
                </a:r>
              </a:p>
            </p:txBody>
          </p:sp>
        </p:grpSp>
        <p:sp>
          <p:nvSpPr>
            <p:cNvPr id="60" name="TextBox 27">
              <a:extLst>
                <a:ext uri="{FF2B5EF4-FFF2-40B4-BE49-F238E27FC236}">
                  <a16:creationId xmlns:a16="http://schemas.microsoft.com/office/drawing/2014/main" id="{E2655ABC-0C0C-CE4D-D8A4-250A857149A2}"/>
                </a:ext>
              </a:extLst>
            </p:cNvPr>
            <p:cNvSpPr txBox="1"/>
            <p:nvPr/>
          </p:nvSpPr>
          <p:spPr>
            <a:xfrm>
              <a:off x="11091439" y="7064756"/>
              <a:ext cx="4856091" cy="1316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6 columns have outliers: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meat_sqft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frozen_sqft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num_children_at_home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store_cost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(in millions),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unit_sales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(in millions),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store_sales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(in millions)</a:t>
              </a:r>
            </a:p>
          </p:txBody>
        </p:sp>
        <p:grpSp>
          <p:nvGrpSpPr>
            <p:cNvPr id="61" name="Group 6">
              <a:extLst>
                <a:ext uri="{FF2B5EF4-FFF2-40B4-BE49-F238E27FC236}">
                  <a16:creationId xmlns:a16="http://schemas.microsoft.com/office/drawing/2014/main" id="{927C5949-3B3A-2E1F-16CF-85BF2F79258D}"/>
                </a:ext>
              </a:extLst>
            </p:cNvPr>
            <p:cNvGrpSpPr/>
            <p:nvPr/>
          </p:nvGrpSpPr>
          <p:grpSpPr>
            <a:xfrm>
              <a:off x="10284417" y="4258628"/>
              <a:ext cx="6294884" cy="1769743"/>
              <a:chOff x="0" y="0"/>
              <a:chExt cx="1657912" cy="2284537"/>
            </a:xfrm>
          </p:grpSpPr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952B0725-B55F-8E05-E5EF-7E159F565B62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Box 8">
                <a:extLst>
                  <a:ext uri="{FF2B5EF4-FFF2-40B4-BE49-F238E27FC236}">
                    <a16:creationId xmlns:a16="http://schemas.microsoft.com/office/drawing/2014/main" id="{B0811828-55CB-64AD-48BB-C41B0AF3641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2" name="Group 6">
              <a:extLst>
                <a:ext uri="{FF2B5EF4-FFF2-40B4-BE49-F238E27FC236}">
                  <a16:creationId xmlns:a16="http://schemas.microsoft.com/office/drawing/2014/main" id="{849034F6-9241-F4D7-7AE3-162D274D4B3A}"/>
                </a:ext>
              </a:extLst>
            </p:cNvPr>
            <p:cNvGrpSpPr/>
            <p:nvPr/>
          </p:nvGrpSpPr>
          <p:grpSpPr>
            <a:xfrm>
              <a:off x="10284417" y="1683623"/>
              <a:ext cx="6294884" cy="1769743"/>
              <a:chOff x="0" y="0"/>
              <a:chExt cx="1657912" cy="2284537"/>
            </a:xfrm>
          </p:grpSpPr>
          <p:sp>
            <p:nvSpPr>
              <p:cNvPr id="75" name="Freeform 7">
                <a:extLst>
                  <a:ext uri="{FF2B5EF4-FFF2-40B4-BE49-F238E27FC236}">
                    <a16:creationId xmlns:a16="http://schemas.microsoft.com/office/drawing/2014/main" id="{8E0FACC7-B5A2-5FCB-7A79-DF75C7ACEFFE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8">
                <a:extLst>
                  <a:ext uri="{FF2B5EF4-FFF2-40B4-BE49-F238E27FC236}">
                    <a16:creationId xmlns:a16="http://schemas.microsoft.com/office/drawing/2014/main" id="{90CFCB60-9504-6C81-AEFA-C8DFF6C58F4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B6283E1-6E45-3797-D1BD-E4D72C4A1CCE}"/>
                </a:ext>
              </a:extLst>
            </p:cNvPr>
            <p:cNvGrpSpPr/>
            <p:nvPr/>
          </p:nvGrpSpPr>
          <p:grpSpPr>
            <a:xfrm>
              <a:off x="8862583" y="1606753"/>
              <a:ext cx="1868266" cy="1868266"/>
              <a:chOff x="8862583" y="1606753"/>
              <a:chExt cx="1868266" cy="1868266"/>
            </a:xfrm>
          </p:grpSpPr>
          <p:grpSp>
            <p:nvGrpSpPr>
              <p:cNvPr id="71" name="Group 13">
                <a:extLst>
                  <a:ext uri="{FF2B5EF4-FFF2-40B4-BE49-F238E27FC236}">
                    <a16:creationId xmlns:a16="http://schemas.microsoft.com/office/drawing/2014/main" id="{7372F6E2-F540-2194-3781-999C09F91DD2}"/>
                  </a:ext>
                </a:extLst>
              </p:cNvPr>
              <p:cNvGrpSpPr/>
              <p:nvPr/>
            </p:nvGrpSpPr>
            <p:grpSpPr>
              <a:xfrm>
                <a:off x="8862583" y="1606753"/>
                <a:ext cx="1868266" cy="1868266"/>
                <a:chOff x="0" y="0"/>
                <a:chExt cx="812800" cy="812800"/>
              </a:xfrm>
            </p:grpSpPr>
            <p:sp>
              <p:nvSpPr>
                <p:cNvPr id="73" name="Freeform 14">
                  <a:extLst>
                    <a:ext uri="{FF2B5EF4-FFF2-40B4-BE49-F238E27FC236}">
                      <a16:creationId xmlns:a16="http://schemas.microsoft.com/office/drawing/2014/main" id="{C66233C4-4639-C212-BD29-446578AF519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TextBox 15">
                  <a:extLst>
                    <a:ext uri="{FF2B5EF4-FFF2-40B4-BE49-F238E27FC236}">
                      <a16:creationId xmlns:a16="http://schemas.microsoft.com/office/drawing/2014/main" id="{A9930DD6-5A72-3319-B5F6-03FFB098B50D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72" name="TextBox 22">
                <a:extLst>
                  <a:ext uri="{FF2B5EF4-FFF2-40B4-BE49-F238E27FC236}">
                    <a16:creationId xmlns:a16="http://schemas.microsoft.com/office/drawing/2014/main" id="{29083B2F-F0ED-9B29-8B8E-B371B511EF6D}"/>
                  </a:ext>
                </a:extLst>
              </p:cNvPr>
              <p:cNvSpPr txBox="1"/>
              <p:nvPr/>
            </p:nvSpPr>
            <p:spPr>
              <a:xfrm>
                <a:off x="8977298" y="190147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1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AE133CD-05AC-2470-ABCC-5625E48B696C}"/>
                </a:ext>
              </a:extLst>
            </p:cNvPr>
            <p:cNvGrpSpPr/>
            <p:nvPr/>
          </p:nvGrpSpPr>
          <p:grpSpPr>
            <a:xfrm>
              <a:off x="8862583" y="4210291"/>
              <a:ext cx="1868266" cy="1868266"/>
              <a:chOff x="8862583" y="4210291"/>
              <a:chExt cx="1868266" cy="1868266"/>
            </a:xfrm>
          </p:grpSpPr>
          <p:grpSp>
            <p:nvGrpSpPr>
              <p:cNvPr id="67" name="Group 16">
                <a:extLst>
                  <a:ext uri="{FF2B5EF4-FFF2-40B4-BE49-F238E27FC236}">
                    <a16:creationId xmlns:a16="http://schemas.microsoft.com/office/drawing/2014/main" id="{57853C5D-CAC0-5D34-3193-162FE971FB0A}"/>
                  </a:ext>
                </a:extLst>
              </p:cNvPr>
              <p:cNvGrpSpPr/>
              <p:nvPr/>
            </p:nvGrpSpPr>
            <p:grpSpPr>
              <a:xfrm>
                <a:off x="8862583" y="4210291"/>
                <a:ext cx="1868266" cy="1868266"/>
                <a:chOff x="0" y="0"/>
                <a:chExt cx="812800" cy="812800"/>
              </a:xfrm>
            </p:grpSpPr>
            <p:sp>
              <p:nvSpPr>
                <p:cNvPr id="69" name="TextBox 18">
                  <a:extLst>
                    <a:ext uri="{FF2B5EF4-FFF2-40B4-BE49-F238E27FC236}">
                      <a16:creationId xmlns:a16="http://schemas.microsoft.com/office/drawing/2014/main" id="{0EDC296B-E5FC-F026-F61F-6DD752D4701A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  <p:sp>
              <p:nvSpPr>
                <p:cNvPr id="70" name="Freeform 17">
                  <a:extLst>
                    <a:ext uri="{FF2B5EF4-FFF2-40B4-BE49-F238E27FC236}">
                      <a16:creationId xmlns:a16="http://schemas.microsoft.com/office/drawing/2014/main" id="{477D406B-BF58-777B-ABCD-9A974D75DF9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8" name="TextBox 23">
                <a:extLst>
                  <a:ext uri="{FF2B5EF4-FFF2-40B4-BE49-F238E27FC236}">
                    <a16:creationId xmlns:a16="http://schemas.microsoft.com/office/drawing/2014/main" id="{C0DEBFE6-98C5-BBEB-70F3-FCAF784CE1EF}"/>
                  </a:ext>
                </a:extLst>
              </p:cNvPr>
              <p:cNvSpPr txBox="1"/>
              <p:nvPr/>
            </p:nvSpPr>
            <p:spPr>
              <a:xfrm>
                <a:off x="8977298" y="4495485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b="1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2</a:t>
                </a:r>
              </a:p>
            </p:txBody>
          </p:sp>
        </p:grpSp>
        <p:sp>
          <p:nvSpPr>
            <p:cNvPr id="65" name="TextBox 25">
              <a:extLst>
                <a:ext uri="{FF2B5EF4-FFF2-40B4-BE49-F238E27FC236}">
                  <a16:creationId xmlns:a16="http://schemas.microsoft.com/office/drawing/2014/main" id="{1B6E6BE4-F466-3A01-0D6B-05441E15F113}"/>
                </a:ext>
              </a:extLst>
            </p:cNvPr>
            <p:cNvSpPr txBox="1"/>
            <p:nvPr/>
          </p:nvSpPr>
          <p:spPr>
            <a:xfrm>
              <a:off x="11091439" y="2161511"/>
              <a:ext cx="4856091" cy="649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There are no missing values in any of the columns of the dataset</a:t>
              </a:r>
            </a:p>
          </p:txBody>
        </p:sp>
        <p:sp>
          <p:nvSpPr>
            <p:cNvPr id="66" name="TextBox 26">
              <a:extLst>
                <a:ext uri="{FF2B5EF4-FFF2-40B4-BE49-F238E27FC236}">
                  <a16:creationId xmlns:a16="http://schemas.microsoft.com/office/drawing/2014/main" id="{A280B8F7-64AA-FAFA-4D44-D1DAB33D9E20}"/>
                </a:ext>
              </a:extLst>
            </p:cNvPr>
            <p:cNvSpPr txBox="1"/>
            <p:nvPr/>
          </p:nvSpPr>
          <p:spPr>
            <a:xfrm>
              <a:off x="11091439" y="4834002"/>
              <a:ext cx="4856091" cy="649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numerical columns =  22</a:t>
              </a:r>
            </a:p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categorical columns =  17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970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9272-58E9-2FD3-F31D-18C89DBC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B8CE6E-5AF5-705A-6A4D-368524B9EA9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2272E13-A76D-EEE6-062A-72B6D826D78D}"/>
              </a:ext>
            </a:extLst>
          </p:cNvPr>
          <p:cNvGrpSpPr/>
          <p:nvPr/>
        </p:nvGrpSpPr>
        <p:grpSpPr>
          <a:xfrm>
            <a:off x="8413750" y="1110371"/>
            <a:ext cx="3340100" cy="3784600"/>
            <a:chOff x="0" y="0"/>
            <a:chExt cx="879697" cy="9967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439CE69-7070-BB61-464F-6832920B0B41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2AE5A5A-7F2A-E9F3-2E3D-B84A2EECA5F4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EF63650-CD6D-927E-C2E1-54BD837B9870}"/>
              </a:ext>
            </a:extLst>
          </p:cNvPr>
          <p:cNvSpPr txBox="1"/>
          <p:nvPr/>
        </p:nvSpPr>
        <p:spPr>
          <a:xfrm>
            <a:off x="1028700" y="929545"/>
            <a:ext cx="7173409" cy="1864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4400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Stellar Classification Dataset - SDSS17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8F13A86-8F98-EF72-114E-BCAB28C3B251}"/>
              </a:ext>
            </a:extLst>
          </p:cNvPr>
          <p:cNvGrpSpPr/>
          <p:nvPr/>
        </p:nvGrpSpPr>
        <p:grpSpPr>
          <a:xfrm>
            <a:off x="8413750" y="5473700"/>
            <a:ext cx="3340100" cy="3784600"/>
            <a:chOff x="0" y="0"/>
            <a:chExt cx="879697" cy="99676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4E18B95-F942-4945-8015-8B20B5C2ED4F}"/>
                </a:ext>
              </a:extLst>
            </p:cNvPr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155114B-BE9F-3571-4A4F-53922B47708E}"/>
                </a:ext>
              </a:extLst>
            </p:cNvPr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A5995A93-5534-7633-40D1-7343C1A60819}"/>
              </a:ext>
            </a:extLst>
          </p:cNvPr>
          <p:cNvSpPr txBox="1"/>
          <p:nvPr/>
        </p:nvSpPr>
        <p:spPr>
          <a:xfrm>
            <a:off x="7955749" y="2139821"/>
            <a:ext cx="4251920" cy="15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C0D8220-04BD-3578-645A-05B0A422F5E4}"/>
              </a:ext>
            </a:extLst>
          </p:cNvPr>
          <p:cNvSpPr txBox="1"/>
          <p:nvPr/>
        </p:nvSpPr>
        <p:spPr>
          <a:xfrm>
            <a:off x="8406001" y="6610221"/>
            <a:ext cx="3340100" cy="1507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36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 and aims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54DAB3-D3CA-9595-AC8B-2B3BAC471109}"/>
              </a:ext>
            </a:extLst>
          </p:cNvPr>
          <p:cNvSpPr txBox="1"/>
          <p:nvPr/>
        </p:nvSpPr>
        <p:spPr>
          <a:xfrm>
            <a:off x="12419310" y="1764076"/>
            <a:ext cx="4650324" cy="228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Modern automated space telescopes collect massive volumes of sky survey data, making manual optical inspection far too slow and labor intensive for astronomical research.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FC85939-9CD3-9131-332A-D8687F444F76}"/>
              </a:ext>
            </a:extLst>
          </p:cNvPr>
          <p:cNvSpPr txBox="1"/>
          <p:nvPr/>
        </p:nvSpPr>
        <p:spPr>
          <a:xfrm>
            <a:off x="12416975" y="6516084"/>
            <a:ext cx="4650324" cy="151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a classification model using photometric spectral filter data and redshift to classify space objects rapidly.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E209CA-C67E-21B7-6D3B-D11638A8F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34"/>
          <a:stretch>
            <a:fillRect/>
          </a:stretch>
        </p:blipFill>
        <p:spPr>
          <a:xfrm>
            <a:off x="1028700" y="3848100"/>
            <a:ext cx="65178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0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827A-F219-16CC-165B-C14EAD648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145E18-7AB6-66F4-AD1C-DD2ACD6B0F1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794935E-05AC-6800-69BE-0D895381AC9B}"/>
              </a:ext>
            </a:extLst>
          </p:cNvPr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E81725B-7BD2-40E9-52D3-C9B7ADE3F3E0}"/>
                </a:ext>
              </a:extLst>
            </p:cNvPr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A114040-5203-C27F-C567-BA2F5257B39F}"/>
                </a:ext>
              </a:extLst>
            </p:cNvPr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9">
            <a:extLst>
              <a:ext uri="{FF2B5EF4-FFF2-40B4-BE49-F238E27FC236}">
                <a16:creationId xmlns:a16="http://schemas.microsoft.com/office/drawing/2014/main" id="{CEE3C901-BDB2-BCB0-6FF0-0F08A6886676}"/>
              </a:ext>
            </a:extLst>
          </p:cNvPr>
          <p:cNvSpPr txBox="1"/>
          <p:nvPr/>
        </p:nvSpPr>
        <p:spPr>
          <a:xfrm>
            <a:off x="1007183" y="952500"/>
            <a:ext cx="5105400" cy="1864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Insights about the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A300B3-0AEA-4CE2-7A5C-0840303A7E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99190"/>
            <a:ext cx="6553213" cy="4334265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086C459A-F808-934B-9B3F-C478155A6E7C}"/>
              </a:ext>
            </a:extLst>
          </p:cNvPr>
          <p:cNvSpPr txBox="1"/>
          <p:nvPr/>
        </p:nvSpPr>
        <p:spPr>
          <a:xfrm>
            <a:off x="4114807" y="59055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18.96%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957051C3-39DC-FC7C-14EA-9B0F52E2E230}"/>
              </a:ext>
            </a:extLst>
          </p:cNvPr>
          <p:cNvSpPr txBox="1"/>
          <p:nvPr/>
        </p:nvSpPr>
        <p:spPr>
          <a:xfrm>
            <a:off x="5997814" y="57531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21.59%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CABC17-4518-E54E-E3E2-CCF7F8A08202}"/>
              </a:ext>
            </a:extLst>
          </p:cNvPr>
          <p:cNvGrpSpPr/>
          <p:nvPr/>
        </p:nvGrpSpPr>
        <p:grpSpPr>
          <a:xfrm>
            <a:off x="8804321" y="1562100"/>
            <a:ext cx="7719301" cy="7242666"/>
            <a:chOff x="8862583" y="1606753"/>
            <a:chExt cx="7719301" cy="7242666"/>
          </a:xfrm>
        </p:grpSpPr>
        <p:grpSp>
          <p:nvGrpSpPr>
            <p:cNvPr id="42" name="Group 6">
              <a:extLst>
                <a:ext uri="{FF2B5EF4-FFF2-40B4-BE49-F238E27FC236}">
                  <a16:creationId xmlns:a16="http://schemas.microsoft.com/office/drawing/2014/main" id="{36FBC50A-4272-840E-3F72-45691FEC163A}"/>
                </a:ext>
              </a:extLst>
            </p:cNvPr>
            <p:cNvGrpSpPr/>
            <p:nvPr/>
          </p:nvGrpSpPr>
          <p:grpSpPr>
            <a:xfrm>
              <a:off x="10287000" y="6856396"/>
              <a:ext cx="6294884" cy="1769743"/>
              <a:chOff x="0" y="0"/>
              <a:chExt cx="1657912" cy="2284537"/>
            </a:xfrm>
          </p:grpSpPr>
          <p:sp>
            <p:nvSpPr>
              <p:cNvPr id="67" name="Freeform 7">
                <a:extLst>
                  <a:ext uri="{FF2B5EF4-FFF2-40B4-BE49-F238E27FC236}">
                    <a16:creationId xmlns:a16="http://schemas.microsoft.com/office/drawing/2014/main" id="{412B118E-E3E2-57E8-1142-E962745C1BC3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8">
                <a:extLst>
                  <a:ext uri="{FF2B5EF4-FFF2-40B4-BE49-F238E27FC236}">
                    <a16:creationId xmlns:a16="http://schemas.microsoft.com/office/drawing/2014/main" id="{719BDDBE-9FBD-AEA3-4FBA-F5492F88662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563B097-32B2-59A2-16AF-2AC717B4532D}"/>
                </a:ext>
              </a:extLst>
            </p:cNvPr>
            <p:cNvGrpSpPr/>
            <p:nvPr/>
          </p:nvGrpSpPr>
          <p:grpSpPr>
            <a:xfrm>
              <a:off x="8862583" y="6811982"/>
              <a:ext cx="1868266" cy="1868266"/>
              <a:chOff x="8862583" y="6811982"/>
              <a:chExt cx="1868266" cy="1868266"/>
            </a:xfrm>
          </p:grpSpPr>
          <p:grpSp>
            <p:nvGrpSpPr>
              <p:cNvPr id="63" name="Group 19">
                <a:extLst>
                  <a:ext uri="{FF2B5EF4-FFF2-40B4-BE49-F238E27FC236}">
                    <a16:creationId xmlns:a16="http://schemas.microsoft.com/office/drawing/2014/main" id="{830CB38E-8F1B-3FED-3977-7240001AFE90}"/>
                  </a:ext>
                </a:extLst>
              </p:cNvPr>
              <p:cNvGrpSpPr/>
              <p:nvPr/>
            </p:nvGrpSpPr>
            <p:grpSpPr>
              <a:xfrm>
                <a:off x="8862583" y="6811982"/>
                <a:ext cx="1868266" cy="1868266"/>
                <a:chOff x="0" y="0"/>
                <a:chExt cx="812800" cy="812800"/>
              </a:xfrm>
            </p:grpSpPr>
            <p:sp>
              <p:nvSpPr>
                <p:cNvPr id="65" name="Freeform 20">
                  <a:extLst>
                    <a:ext uri="{FF2B5EF4-FFF2-40B4-BE49-F238E27FC236}">
                      <a16:creationId xmlns:a16="http://schemas.microsoft.com/office/drawing/2014/main" id="{4B1EE4D8-2448-D440-609C-087DAB2DC69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TextBox 21">
                  <a:extLst>
                    <a:ext uri="{FF2B5EF4-FFF2-40B4-BE49-F238E27FC236}">
                      <a16:creationId xmlns:a16="http://schemas.microsoft.com/office/drawing/2014/main" id="{B4937170-562B-4F7F-6246-25D0CEBAF45B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64" name="TextBox 24">
                <a:extLst>
                  <a:ext uri="{FF2B5EF4-FFF2-40B4-BE49-F238E27FC236}">
                    <a16:creationId xmlns:a16="http://schemas.microsoft.com/office/drawing/2014/main" id="{074DCBDE-FFDB-F7EC-04B7-941D03F59FC5}"/>
                  </a:ext>
                </a:extLst>
              </p:cNvPr>
              <p:cNvSpPr txBox="1"/>
              <p:nvPr/>
            </p:nvSpPr>
            <p:spPr>
              <a:xfrm>
                <a:off x="8977298" y="709773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3</a:t>
                </a:r>
              </a:p>
            </p:txBody>
          </p:sp>
        </p:grpSp>
        <p:sp>
          <p:nvSpPr>
            <p:cNvPr id="44" name="TextBox 27">
              <a:extLst>
                <a:ext uri="{FF2B5EF4-FFF2-40B4-BE49-F238E27FC236}">
                  <a16:creationId xmlns:a16="http://schemas.microsoft.com/office/drawing/2014/main" id="{C0B50E54-5B45-D4AD-046A-A8AB2979A553}"/>
                </a:ext>
              </a:extLst>
            </p:cNvPr>
            <p:cNvSpPr txBox="1"/>
            <p:nvPr/>
          </p:nvSpPr>
          <p:spPr>
            <a:xfrm>
              <a:off x="11091439" y="7199865"/>
              <a:ext cx="4856091" cy="1649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7 columns have outliers: redshift,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field_ID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z (infrared), </a:t>
              </a:r>
              <a:r>
                <a:rPr lang="en-US" sz="1832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(near-infrared), r (red), g (green), u (ultraviolet) </a:t>
              </a:r>
            </a:p>
            <a:p>
              <a:pPr algn="l">
                <a:lnSpc>
                  <a:spcPts val="2565"/>
                </a:lnSpc>
                <a:spcBef>
                  <a:spcPct val="0"/>
                </a:spcBef>
              </a:pPr>
              <a:endPara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565"/>
                </a:lnSpc>
                <a:spcBef>
                  <a:spcPct val="0"/>
                </a:spcBef>
              </a:pPr>
              <a:endPara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5" name="Group 6">
              <a:extLst>
                <a:ext uri="{FF2B5EF4-FFF2-40B4-BE49-F238E27FC236}">
                  <a16:creationId xmlns:a16="http://schemas.microsoft.com/office/drawing/2014/main" id="{F30441B2-B457-3113-66FC-CF4BBD4AF8D0}"/>
                </a:ext>
              </a:extLst>
            </p:cNvPr>
            <p:cNvGrpSpPr/>
            <p:nvPr/>
          </p:nvGrpSpPr>
          <p:grpSpPr>
            <a:xfrm>
              <a:off x="10284417" y="4258628"/>
              <a:ext cx="6294884" cy="1769743"/>
              <a:chOff x="0" y="0"/>
              <a:chExt cx="1657912" cy="2284537"/>
            </a:xfrm>
          </p:grpSpPr>
          <p:sp>
            <p:nvSpPr>
              <p:cNvPr id="61" name="Freeform 7">
                <a:extLst>
                  <a:ext uri="{FF2B5EF4-FFF2-40B4-BE49-F238E27FC236}">
                    <a16:creationId xmlns:a16="http://schemas.microsoft.com/office/drawing/2014/main" id="{6406F620-E03C-E3E3-FE8D-498C55E2F163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8">
                <a:extLst>
                  <a:ext uri="{FF2B5EF4-FFF2-40B4-BE49-F238E27FC236}">
                    <a16:creationId xmlns:a16="http://schemas.microsoft.com/office/drawing/2014/main" id="{5818668F-269B-A6FD-42FB-92391DC8109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1858FCBD-5231-EDAB-E543-E4E5B5AD9FF0}"/>
                </a:ext>
              </a:extLst>
            </p:cNvPr>
            <p:cNvGrpSpPr/>
            <p:nvPr/>
          </p:nvGrpSpPr>
          <p:grpSpPr>
            <a:xfrm>
              <a:off x="10284417" y="1683623"/>
              <a:ext cx="6294884" cy="1769743"/>
              <a:chOff x="0" y="0"/>
              <a:chExt cx="1657912" cy="2284537"/>
            </a:xfrm>
          </p:grpSpPr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1884CC1F-3919-2E4C-6BE2-AB324D9CB51E}"/>
                  </a:ext>
                </a:extLst>
              </p:cNvPr>
              <p:cNvSpPr/>
              <p:nvPr/>
            </p:nvSpPr>
            <p:spPr>
              <a:xfrm>
                <a:off x="0" y="0"/>
                <a:ext cx="1657912" cy="2284537"/>
              </a:xfrm>
              <a:custGeom>
                <a:avLst/>
                <a:gdLst/>
                <a:ahLst/>
                <a:cxnLst/>
                <a:rect l="l" t="t" r="r" b="b"/>
                <a:pathLst>
                  <a:path w="1657912" h="2284537">
                    <a:moveTo>
                      <a:pt x="62724" y="0"/>
                    </a:moveTo>
                    <a:lnTo>
                      <a:pt x="1595188" y="0"/>
                    </a:lnTo>
                    <a:cubicBezTo>
                      <a:pt x="1611824" y="0"/>
                      <a:pt x="1627778" y="6608"/>
                      <a:pt x="1639541" y="18371"/>
                    </a:cubicBezTo>
                    <a:cubicBezTo>
                      <a:pt x="1651304" y="30134"/>
                      <a:pt x="1657912" y="46088"/>
                      <a:pt x="1657912" y="62724"/>
                    </a:cubicBezTo>
                    <a:lnTo>
                      <a:pt x="1657912" y="2221813"/>
                    </a:lnTo>
                    <a:cubicBezTo>
                      <a:pt x="1657912" y="2256454"/>
                      <a:pt x="1629830" y="2284537"/>
                      <a:pt x="1595188" y="2284537"/>
                    </a:cubicBezTo>
                    <a:lnTo>
                      <a:pt x="62724" y="2284537"/>
                    </a:lnTo>
                    <a:cubicBezTo>
                      <a:pt x="46088" y="2284537"/>
                      <a:pt x="30134" y="2277928"/>
                      <a:pt x="18371" y="2266165"/>
                    </a:cubicBezTo>
                    <a:cubicBezTo>
                      <a:pt x="6608" y="2254403"/>
                      <a:pt x="0" y="2238448"/>
                      <a:pt x="0" y="2221813"/>
                    </a:cubicBezTo>
                    <a:lnTo>
                      <a:pt x="0" y="62724"/>
                    </a:lnTo>
                    <a:cubicBezTo>
                      <a:pt x="0" y="46088"/>
                      <a:pt x="6608" y="30134"/>
                      <a:pt x="18371" y="18371"/>
                    </a:cubicBezTo>
                    <a:cubicBezTo>
                      <a:pt x="30134" y="6608"/>
                      <a:pt x="46088" y="0"/>
                      <a:pt x="62724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8">
                <a:extLst>
                  <a:ext uri="{FF2B5EF4-FFF2-40B4-BE49-F238E27FC236}">
                    <a16:creationId xmlns:a16="http://schemas.microsoft.com/office/drawing/2014/main" id="{CFA7974D-B272-A809-5E7C-0CA1B02C27E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57912" cy="2332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EB734D-43AA-A33D-78E2-CD1892D1A450}"/>
                </a:ext>
              </a:extLst>
            </p:cNvPr>
            <p:cNvGrpSpPr/>
            <p:nvPr/>
          </p:nvGrpSpPr>
          <p:grpSpPr>
            <a:xfrm>
              <a:off x="8862583" y="1606753"/>
              <a:ext cx="1868266" cy="1868266"/>
              <a:chOff x="8862583" y="1606753"/>
              <a:chExt cx="1868266" cy="1868266"/>
            </a:xfrm>
          </p:grpSpPr>
          <p:grpSp>
            <p:nvGrpSpPr>
              <p:cNvPr id="55" name="Group 13">
                <a:extLst>
                  <a:ext uri="{FF2B5EF4-FFF2-40B4-BE49-F238E27FC236}">
                    <a16:creationId xmlns:a16="http://schemas.microsoft.com/office/drawing/2014/main" id="{5B875904-DB25-C48F-6D85-F6FEDDE9DBD8}"/>
                  </a:ext>
                </a:extLst>
              </p:cNvPr>
              <p:cNvGrpSpPr/>
              <p:nvPr/>
            </p:nvGrpSpPr>
            <p:grpSpPr>
              <a:xfrm>
                <a:off x="8862583" y="1606753"/>
                <a:ext cx="1868266" cy="1868266"/>
                <a:chOff x="0" y="0"/>
                <a:chExt cx="812800" cy="812800"/>
              </a:xfrm>
            </p:grpSpPr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B5285ACB-9597-9913-AF49-421E6CEF042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TextBox 15">
                  <a:extLst>
                    <a:ext uri="{FF2B5EF4-FFF2-40B4-BE49-F238E27FC236}">
                      <a16:creationId xmlns:a16="http://schemas.microsoft.com/office/drawing/2014/main" id="{250D3F01-3C19-8412-D9A8-A674903F7407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56" name="TextBox 22">
                <a:extLst>
                  <a:ext uri="{FF2B5EF4-FFF2-40B4-BE49-F238E27FC236}">
                    <a16:creationId xmlns:a16="http://schemas.microsoft.com/office/drawing/2014/main" id="{5DF996F4-3734-54DB-7DB1-57C3DCFC3A5B}"/>
                  </a:ext>
                </a:extLst>
              </p:cNvPr>
              <p:cNvSpPr txBox="1"/>
              <p:nvPr/>
            </p:nvSpPr>
            <p:spPr>
              <a:xfrm>
                <a:off x="8977298" y="1901472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1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4965BE-382B-B385-7A39-2B2C2F100C93}"/>
                </a:ext>
              </a:extLst>
            </p:cNvPr>
            <p:cNvGrpSpPr/>
            <p:nvPr/>
          </p:nvGrpSpPr>
          <p:grpSpPr>
            <a:xfrm>
              <a:off x="8862583" y="4210291"/>
              <a:ext cx="1868266" cy="1868266"/>
              <a:chOff x="8862583" y="4210291"/>
              <a:chExt cx="1868266" cy="1868266"/>
            </a:xfrm>
          </p:grpSpPr>
          <p:grpSp>
            <p:nvGrpSpPr>
              <p:cNvPr id="51" name="Group 16">
                <a:extLst>
                  <a:ext uri="{FF2B5EF4-FFF2-40B4-BE49-F238E27FC236}">
                    <a16:creationId xmlns:a16="http://schemas.microsoft.com/office/drawing/2014/main" id="{00EDEAF9-5FB0-B10F-11EF-7961AEC01563}"/>
                  </a:ext>
                </a:extLst>
              </p:cNvPr>
              <p:cNvGrpSpPr/>
              <p:nvPr/>
            </p:nvGrpSpPr>
            <p:grpSpPr>
              <a:xfrm>
                <a:off x="8862583" y="4210291"/>
                <a:ext cx="1868266" cy="1868266"/>
                <a:chOff x="0" y="0"/>
                <a:chExt cx="812800" cy="812800"/>
              </a:xfrm>
            </p:grpSpPr>
            <p:sp>
              <p:nvSpPr>
                <p:cNvPr id="53" name="TextBox 18">
                  <a:extLst>
                    <a:ext uri="{FF2B5EF4-FFF2-40B4-BE49-F238E27FC236}">
                      <a16:creationId xmlns:a16="http://schemas.microsoft.com/office/drawing/2014/main" id="{55702C44-A0AA-A4B3-7E0E-DBF7EF69381A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  <p:sp>
              <p:nvSpPr>
                <p:cNvPr id="54" name="Freeform 17">
                  <a:extLst>
                    <a:ext uri="{FF2B5EF4-FFF2-40B4-BE49-F238E27FC236}">
                      <a16:creationId xmlns:a16="http://schemas.microsoft.com/office/drawing/2014/main" id="{E14A5B28-CCC1-A9C9-D50F-06E92E5332E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2" name="TextBox 23">
                <a:extLst>
                  <a:ext uri="{FF2B5EF4-FFF2-40B4-BE49-F238E27FC236}">
                    <a16:creationId xmlns:a16="http://schemas.microsoft.com/office/drawing/2014/main" id="{54BCD230-9C80-033C-4D6D-153039682C45}"/>
                  </a:ext>
                </a:extLst>
              </p:cNvPr>
              <p:cNvSpPr txBox="1"/>
              <p:nvPr/>
            </p:nvSpPr>
            <p:spPr>
              <a:xfrm>
                <a:off x="8977298" y="4495485"/>
                <a:ext cx="1638836" cy="13359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002"/>
                  </a:lnSpc>
                </a:pPr>
                <a:r>
                  <a:rPr lang="en-US" sz="7859" b="1" dirty="0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2</a:t>
                </a:r>
              </a:p>
            </p:txBody>
          </p:sp>
        </p:grpSp>
        <p:sp>
          <p:nvSpPr>
            <p:cNvPr id="49" name="TextBox 25">
              <a:extLst>
                <a:ext uri="{FF2B5EF4-FFF2-40B4-BE49-F238E27FC236}">
                  <a16:creationId xmlns:a16="http://schemas.microsoft.com/office/drawing/2014/main" id="{6784AF89-D7D4-8356-249F-39806605404A}"/>
                </a:ext>
              </a:extLst>
            </p:cNvPr>
            <p:cNvSpPr txBox="1"/>
            <p:nvPr/>
          </p:nvSpPr>
          <p:spPr>
            <a:xfrm>
              <a:off x="11091439" y="2161511"/>
              <a:ext cx="4856091" cy="315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endPara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" name="TextBox 26">
              <a:extLst>
                <a:ext uri="{FF2B5EF4-FFF2-40B4-BE49-F238E27FC236}">
                  <a16:creationId xmlns:a16="http://schemas.microsoft.com/office/drawing/2014/main" id="{35D54A97-771E-4771-3696-2478F9A17009}"/>
                </a:ext>
              </a:extLst>
            </p:cNvPr>
            <p:cNvSpPr txBox="1"/>
            <p:nvPr/>
          </p:nvSpPr>
          <p:spPr>
            <a:xfrm>
              <a:off x="11091439" y="4834002"/>
              <a:ext cx="4856091" cy="649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numerical columns =  4</a:t>
              </a:r>
            </a:p>
            <a:p>
              <a:pPr algn="l">
                <a:lnSpc>
                  <a:spcPts val="2565"/>
                </a:lnSpc>
                <a:spcBef>
                  <a:spcPct val="0"/>
                </a:spcBef>
              </a:pPr>
              <a:r>
                <a:rPr lang="en-US" sz="1832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number of categorical columns =  12  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434FE226-2009-6BD4-2655-7B4AEE6364BB}"/>
              </a:ext>
            </a:extLst>
          </p:cNvPr>
          <p:cNvSpPr/>
          <p:nvPr/>
        </p:nvSpPr>
        <p:spPr>
          <a:xfrm>
            <a:off x="1582038" y="3769935"/>
            <a:ext cx="5733162" cy="781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5B42C5D-BB48-369D-792C-1C51CE959524}"/>
              </a:ext>
            </a:extLst>
          </p:cNvPr>
          <p:cNvSpPr/>
          <p:nvPr/>
        </p:nvSpPr>
        <p:spPr>
          <a:xfrm rot="5400000" flipV="1">
            <a:off x="5410198" y="5554983"/>
            <a:ext cx="3764284" cy="4571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7C53BF99-5403-338F-A649-CE73A5D9D8D7}"/>
              </a:ext>
            </a:extLst>
          </p:cNvPr>
          <p:cNvSpPr txBox="1"/>
          <p:nvPr/>
        </p:nvSpPr>
        <p:spPr>
          <a:xfrm>
            <a:off x="2264014" y="3619500"/>
            <a:ext cx="860186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65"/>
              </a:lnSpc>
              <a:spcBef>
                <a:spcPct val="0"/>
              </a:spcBef>
            </a:pPr>
            <a:r>
              <a:rPr lang="en-US" dirty="0"/>
              <a:t>59.44%</a:t>
            </a:r>
          </a:p>
        </p:txBody>
      </p:sp>
      <p:sp>
        <p:nvSpPr>
          <p:cNvPr id="75" name="TextBox 25">
            <a:extLst>
              <a:ext uri="{FF2B5EF4-FFF2-40B4-BE49-F238E27FC236}">
                <a16:creationId xmlns:a16="http://schemas.microsoft.com/office/drawing/2014/main" id="{8A2E3AE2-5DEF-430F-D4C0-595F865B94E4}"/>
              </a:ext>
            </a:extLst>
          </p:cNvPr>
          <p:cNvSpPr txBox="1"/>
          <p:nvPr/>
        </p:nvSpPr>
        <p:spPr>
          <a:xfrm>
            <a:off x="11033176" y="2179000"/>
            <a:ext cx="4856091" cy="64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are no missing values in any of the columns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120014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609600" y="3810722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30300" y="3810722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22197" y="3878119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464</Words>
  <Application>Microsoft Office PowerPoint</Application>
  <PresentationFormat>Custom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League Spartan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cp:lastModifiedBy>FATEMA SUBAH HAMEED ALSABAH</cp:lastModifiedBy>
  <cp:revision>22</cp:revision>
  <dcterms:created xsi:type="dcterms:W3CDTF">2006-08-16T00:00:00Z</dcterms:created>
  <dcterms:modified xsi:type="dcterms:W3CDTF">2026-08-05T21:14:52Z</dcterms:modified>
  <dc:identifier>DAHRbabwmHw</dc:identifier>
</cp:coreProperties>
</file>